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73" r:id="rId2"/>
    <p:sldId id="301" r:id="rId3"/>
    <p:sldId id="302" r:id="rId4"/>
    <p:sldId id="271" r:id="rId5"/>
    <p:sldId id="274" r:id="rId6"/>
    <p:sldId id="272" r:id="rId7"/>
    <p:sldId id="304" r:id="rId8"/>
    <p:sldId id="280" r:id="rId9"/>
    <p:sldId id="289" r:id="rId10"/>
    <p:sldId id="281" r:id="rId11"/>
    <p:sldId id="286" r:id="rId12"/>
    <p:sldId id="287" r:id="rId13"/>
    <p:sldId id="288" r:id="rId14"/>
    <p:sldId id="285" r:id="rId15"/>
    <p:sldId id="290" r:id="rId16"/>
    <p:sldId id="282" r:id="rId17"/>
    <p:sldId id="291" r:id="rId18"/>
    <p:sldId id="292" r:id="rId19"/>
    <p:sldId id="283" r:id="rId20"/>
    <p:sldId id="293" r:id="rId21"/>
    <p:sldId id="294" r:id="rId22"/>
    <p:sldId id="296" r:id="rId23"/>
    <p:sldId id="284" r:id="rId24"/>
    <p:sldId id="295" r:id="rId25"/>
    <p:sldId id="297" r:id="rId26"/>
    <p:sldId id="298" r:id="rId27"/>
    <p:sldId id="299" r:id="rId28"/>
    <p:sldId id="270" r:id="rId29"/>
    <p:sldId id="262" r:id="rId30"/>
    <p:sldId id="263" r:id="rId31"/>
    <p:sldId id="305" r:id="rId32"/>
    <p:sldId id="306" r:id="rId33"/>
    <p:sldId id="264" r:id="rId34"/>
    <p:sldId id="265" r:id="rId35"/>
    <p:sldId id="268" r:id="rId36"/>
    <p:sldId id="259" r:id="rId37"/>
    <p:sldId id="258" r:id="rId38"/>
    <p:sldId id="266" r:id="rId39"/>
    <p:sldId id="267" r:id="rId40"/>
    <p:sldId id="257" r:id="rId41"/>
    <p:sldId id="269" r:id="rId42"/>
    <p:sldId id="300" r:id="rId4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-5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D2F14-8671-4C8D-9328-646CEBC538DC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D6241-7446-41DE-9C36-A530DDF877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2480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cloudflared</a:t>
            </a:r>
            <a:r>
              <a:rPr lang="es-CO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tunnel</a:t>
            </a:r>
            <a:r>
              <a:rPr lang="es-CO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es-CO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s-CO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http://localhost</a:t>
            </a:r>
            <a:r>
              <a:rPr lang="es-C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:9000</a:t>
            </a:r>
            <a:br>
              <a:rPr lang="es-C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CO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https://machinelearningmastery.com/7-must-know-agentic-ai-design-patterns/</a:t>
            </a:r>
            <a:endParaRPr lang="es-CO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1D6241-7446-41DE-9C36-A530DDF8778E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7984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La diferencia clave con el enrutamiento es que el planificador genera un </a:t>
            </a:r>
            <a:r>
              <a:rPr lang="es-CO" i="1" dirty="0"/>
              <a:t>plan en varios pasos</a:t>
            </a:r>
            <a:r>
              <a:rPr lang="es-CO" dirty="0"/>
              <a:t> en lugar de seleccionar un único paso siguiente.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EF9AE-8244-4A19-B29F-3C758AADC41B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8947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90A28-26A5-47BD-4357-B267A610D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767895-92B6-6EE8-FBF4-98A324EC8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CD0F44A-4B4B-B7D5-59EB-C7BAC1922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La diferencia clave con el enrutamiento es que el planificador genera un </a:t>
            </a:r>
            <a:r>
              <a:rPr lang="es-CO" i="1" dirty="0"/>
              <a:t>plan en varios pasos</a:t>
            </a:r>
            <a:r>
              <a:rPr lang="es-CO" dirty="0"/>
              <a:t> en lugar de seleccionar un único paso siguiente.</a:t>
            </a:r>
          </a:p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A96657-5AD4-EE01-2D4A-68FE9E685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EF9AE-8244-4A19-B29F-3C758AADC41B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3737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E1C01-9513-2486-28B6-07533405B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88F86-5772-DFA2-A062-9AF5B48D4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88397B-4BF9-58A2-54E9-67D3EDAA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35B56C-8903-08C1-7CF3-3DE1F98BF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E90901-5FF1-1D36-0026-D732D7D5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908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BFF0B-C49E-6493-B548-14E02975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2851A6-800A-7588-53C6-97C9684BE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5530F9-370D-F360-16DF-78CA2007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8ABFAA-A763-3C46-06AA-B9CD97F1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AE5E75-E226-E2DA-68CE-91F67FE0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332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EA350-6505-BE76-0C0F-34409790A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A14203-E964-9895-40DC-A72C8547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62744D-CB7A-4748-EBCB-56702E1F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4831C0-1903-D5A6-E104-72970008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023F4F-A168-7455-F6A8-A68B5555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1992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4C0E8-4FBA-25CD-781E-51EF93B9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5E6893-9C8B-C1CE-0A40-1C25CB99A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CCBF12-F35B-2760-01D0-212BBA03C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8E20A9-C152-3535-F13B-A33AA110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7C0291-B713-191B-F837-E99EBE9B9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869173-D6BA-43C9-6F51-833D994E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675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BBA0A-B96D-5F9B-B5FF-E9DBCDF9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2A033E-B2BC-732E-E31C-9067FFCE5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C94D5B-92B5-BAE6-C3B0-569E94F89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A78E47-9449-41C3-0E67-07E97A655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09AF1B2-FBB9-0C04-EC1F-4097453F41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E15946-FAAA-2262-DD3D-82858B2A7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F8A61C-1DEF-DD50-A8DC-22F0CD0A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CED5867-ECEA-B109-E60A-0E451BD4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211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D1B56-7809-085D-3DD8-36B6DABD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A0787B-473D-0B20-50A0-0DC1D40D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FD498C-ED5D-5112-AF7D-F881DA9D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134BA7-4FC8-E388-0D0F-E8E6ADD91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156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E88966B-D2C0-3558-310E-33EFE9C0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17465F-9A43-EDA7-6479-96AE68F1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AD1AFF-A43B-79C7-5A12-431F70AB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976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3A42B-495D-45CB-42F0-8079D07A3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CA67DE-36B6-EBFD-DE70-1D959D488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DD5815-5A45-B5DA-DC0E-48E155604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693342-8866-73DA-2CDD-CF3562994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F5D2AC-133D-1CD2-352C-25BACEE13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66F204-EE06-010C-5BC7-9D951AD6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768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446A2-D430-8949-3F3A-420D6412C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110681-9877-BCF3-7C05-D19C343BA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F99F2A-5F97-D5E4-F0BF-A84DD7A0E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FB53B4-1489-A379-03FD-E9538997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4DEBA36-9A4A-D310-BBC3-5458DDDA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AA3F12-AF47-2F15-042C-8E633598D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037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4D0A8-DD17-597A-9540-BB2CC49F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D70562-5440-93FA-668D-1421F1197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572A3F-FC31-12B7-5981-2EC12534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3E5E90-1A85-84C0-684E-CE260DAB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7CE53D-7E30-E2B6-E6CA-AB13E6BF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0313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A2B6B5-E3CF-EA01-2D1F-926223C82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FE3254-D3A8-6DB9-3BDB-F7546EC1D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02213E-8FBC-2619-66D3-D4F18A44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8424BD-87B8-F8FF-722D-90ED8BC4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B5416C-5B5C-D6E1-B9AC-76C63C584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711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CA6754B-01AE-C980-2A1D-BB5B3526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F496B5-5FFD-7379-E8B1-508F11A9F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416FAF-40AC-38BD-E989-1425B6974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6D90A-902F-45F2-9155-4E0EB73B9A68}" type="datetimeFigureOut">
              <a:rPr lang="es-CO" smtClean="0"/>
              <a:t>28/07/2026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D1A80A-0692-CFBC-C0CB-19C9AC0F8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1BBA79-B57E-271F-9A6E-329DE1F0B8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A7375-8715-4A39-86FF-855527D831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525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6BCA7-C8B6-8599-A5A4-37C064D99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1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MX" dirty="0"/>
              <a:t>El desarrollo de un MCP desde una perspectiva arquitectónica 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B345CC-22A5-FCDD-F62A-CF061B14B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1831"/>
            <a:ext cx="9144000" cy="1655762"/>
          </a:xfrm>
        </p:spPr>
        <p:txBody>
          <a:bodyPr/>
          <a:lstStyle/>
          <a:p>
            <a:r>
              <a:rPr lang="es-MX" dirty="0" err="1"/>
              <a:t>MsC</a:t>
            </a:r>
            <a:r>
              <a:rPr lang="es-MX" dirty="0"/>
              <a:t>. Felipe Buitrago Carmona</a:t>
            </a:r>
          </a:p>
          <a:p>
            <a:r>
              <a:rPr lang="es-MX" dirty="0"/>
              <a:t>Universidad de Caldas</a:t>
            </a:r>
          </a:p>
          <a:p>
            <a:r>
              <a:rPr lang="es-MX" dirty="0"/>
              <a:t>Colombia</a:t>
            </a:r>
            <a:endParaRPr lang="es-CO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E1FD461-B392-4F70-765B-D375F1E3AA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30" b="31614"/>
          <a:stretch>
            <a:fillRect/>
          </a:stretch>
        </p:blipFill>
        <p:spPr>
          <a:xfrm>
            <a:off x="0" y="5080571"/>
            <a:ext cx="12192000" cy="1777429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64471BFD-5248-375A-A98D-1F9FD11E8AB0}"/>
              </a:ext>
            </a:extLst>
          </p:cNvPr>
          <p:cNvSpPr/>
          <p:nvPr/>
        </p:nvSpPr>
        <p:spPr>
          <a:xfrm>
            <a:off x="10407721" y="0"/>
            <a:ext cx="1428108" cy="12328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770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B18C3-4B8C-AFD1-F6EC-F50F8ABF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Agenda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CD2FD1-2074-A58A-3BC0-AB2B8A2B7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s-MX" dirty="0"/>
              <a:t>Introducción “</a:t>
            </a:r>
            <a:r>
              <a:rPr lang="es-MX" dirty="0" err="1"/>
              <a:t>Agentic</a:t>
            </a:r>
            <a:r>
              <a:rPr lang="es-MX" dirty="0"/>
              <a:t> AI”</a:t>
            </a:r>
          </a:p>
          <a:p>
            <a:pPr marL="571500" indent="-571500">
              <a:buFont typeface="+mj-lt"/>
              <a:buAutoNum type="romanUcPeriod"/>
            </a:pPr>
            <a:r>
              <a:rPr lang="es-CO" dirty="0"/>
              <a:t>Patrones de IA </a:t>
            </a:r>
            <a:r>
              <a:rPr lang="es-CO" dirty="0" err="1"/>
              <a:t>agéntica</a:t>
            </a:r>
            <a:endParaRPr lang="es-CO" dirty="0"/>
          </a:p>
          <a:p>
            <a:pPr marL="571500" indent="-571500">
              <a:buFont typeface="+mj-lt"/>
              <a:buAutoNum type="romanUcPeriod"/>
            </a:pPr>
            <a:r>
              <a:rPr lang="es-CO" dirty="0"/>
              <a:t>Concepto e implementación del MCP</a:t>
            </a:r>
          </a:p>
          <a:p>
            <a:pPr marL="571500" indent="-571500">
              <a:buFont typeface="+mj-lt"/>
              <a:buAutoNum type="romanUcPeriod"/>
            </a:pPr>
            <a:r>
              <a:rPr lang="es-CO" dirty="0"/>
              <a:t>Revisión de la demo</a:t>
            </a:r>
          </a:p>
          <a:p>
            <a:pPr marL="571500" indent="-571500">
              <a:buFont typeface="+mj-lt"/>
              <a:buAutoNum type="romanUcPeriod"/>
            </a:pPr>
            <a:endParaRPr lang="es-MX" dirty="0"/>
          </a:p>
          <a:p>
            <a:pPr marL="514350" indent="-514350">
              <a:buFont typeface="+mj-lt"/>
              <a:buAutoNum type="romanUcPeriod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7244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3F5C7-EA26-B582-C6C8-88A7E70649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I. Introducción “</a:t>
            </a:r>
            <a:r>
              <a:rPr lang="es-MX" dirty="0" err="1"/>
              <a:t>Agentic</a:t>
            </a:r>
            <a:r>
              <a:rPr lang="es-MX" dirty="0"/>
              <a:t> AI”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577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6EE1ED0-08B5-C43D-D27C-25C244DA6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04" b="16210"/>
          <a:stretch>
            <a:fillRect/>
          </a:stretch>
        </p:blipFill>
        <p:spPr>
          <a:xfrm>
            <a:off x="3068855" y="59023"/>
            <a:ext cx="6054290" cy="675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72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3B1611-7DE8-A15B-279E-0EC5CBD5B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¿Qué es </a:t>
            </a:r>
            <a:r>
              <a:rPr lang="es-CO" dirty="0" err="1"/>
              <a:t>Agentic</a:t>
            </a:r>
            <a:r>
              <a:rPr lang="es-CO" dirty="0"/>
              <a:t> AI?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2B6F20-8682-E899-DA1B-47E136A02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881" y="1599594"/>
            <a:ext cx="452491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dirty="0"/>
              <a:t>El término "AI </a:t>
            </a:r>
            <a:r>
              <a:rPr lang="es-CO" dirty="0" err="1"/>
              <a:t>agent</a:t>
            </a:r>
            <a:r>
              <a:rPr lang="es-CO" dirty="0"/>
              <a:t>" se refiere a una entidad de software autónoma que percibe, razona y actúa para completar tareas específicas dirigidas de forma adaptativa.</a:t>
            </a:r>
          </a:p>
          <a:p>
            <a:pPr marL="0" indent="0" algn="just">
              <a:buNone/>
            </a:pPr>
            <a:endParaRPr lang="es-CO" dirty="0"/>
          </a:p>
          <a:p>
            <a:pPr marL="0" indent="0" algn="just">
              <a:buNone/>
            </a:pPr>
            <a:r>
              <a:rPr lang="es-CO" dirty="0"/>
              <a:t>(Bandi, 2025)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E932E0-F141-9E5E-C41A-805F44EB2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24" t="23221" r="5289"/>
          <a:stretch>
            <a:fillRect/>
          </a:stretch>
        </p:blipFill>
        <p:spPr>
          <a:xfrm>
            <a:off x="4943683" y="1690688"/>
            <a:ext cx="7015436" cy="398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88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081AE31-FDCC-6F92-9E65-97086B623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47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879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BD9B7-7EFA-813E-9D22-02971D6BF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D9C0B-9A2E-C146-E253-872C46E8F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II. </a:t>
            </a:r>
            <a:r>
              <a:rPr lang="es-CO" dirty="0"/>
              <a:t>Patrones de IA </a:t>
            </a:r>
            <a:r>
              <a:rPr lang="es-CO" dirty="0" err="1"/>
              <a:t>Agéntica</a:t>
            </a:r>
            <a:r>
              <a:rPr lang="es-MX" dirty="0"/>
              <a:t>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47486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D81F1-02C9-3E72-395B-162C4A60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Patrones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01E31F-A81B-8B6E-A386-88449855B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CO" dirty="0" err="1"/>
              <a:t>Reflection</a:t>
            </a:r>
            <a:r>
              <a:rPr lang="es-CO" dirty="0"/>
              <a:t> 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Tool Use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Planning</a:t>
            </a:r>
            <a:r>
              <a:rPr lang="es-CO" dirty="0"/>
              <a:t> (</a:t>
            </a:r>
            <a:r>
              <a:rPr lang="es-CO" dirty="0" err="1"/>
              <a:t>Orchestrator-Workers</a:t>
            </a:r>
            <a:r>
              <a:rPr lang="es-CO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/>
              <a:t>Multi-Agent</a:t>
            </a:r>
          </a:p>
          <a:p>
            <a:pPr marL="514350" indent="-514350">
              <a:buFont typeface="+mj-lt"/>
              <a:buAutoNum type="arabicPeriod"/>
            </a:pP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10AE32-3540-6D49-2AD8-06075A630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610" y="1687775"/>
            <a:ext cx="3482449" cy="348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5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696F3-4C88-C572-C518-0C826D4DA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1. </a:t>
            </a:r>
            <a:r>
              <a:rPr lang="es-CO" b="1" dirty="0" err="1"/>
              <a:t>Reflection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67F468-C0B8-76A3-6802-73349456FF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3686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CB670-1E44-AB2F-4FA7-0704FA53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1. </a:t>
            </a:r>
            <a:r>
              <a:rPr lang="es-CO" b="1" dirty="0" err="1"/>
              <a:t>Reflection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B6404C-50FA-3D00-C7BD-B5258DD83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18" y="1797278"/>
            <a:ext cx="5573988" cy="4351338"/>
          </a:xfrm>
        </p:spPr>
        <p:txBody>
          <a:bodyPr/>
          <a:lstStyle/>
          <a:p>
            <a:pPr algn="just"/>
            <a:r>
              <a:rPr lang="es-CO" dirty="0"/>
              <a:t>Un agente evalúa su propio resultado y utiliza esa retroalimentación para refinar su respuesta de forma iterativa</a:t>
            </a:r>
          </a:p>
          <a:p>
            <a:pPr algn="just"/>
            <a:endParaRPr lang="es-CO" dirty="0"/>
          </a:p>
          <a:p>
            <a:pPr algn="just"/>
            <a:r>
              <a:rPr lang="es-CO" dirty="0"/>
              <a:t>Este patrón, también conocido como Evaluador-Optimizador, emplea un bucle de autocorrección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483958-F8DB-E3BE-0D8D-6AD473AF1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118" y="1797278"/>
            <a:ext cx="6289964" cy="398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245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42F02A-9D8F-E9F3-9B6C-07C4BF1EE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12" y="74092"/>
            <a:ext cx="7763975" cy="670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53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C3569E-260F-A143-342B-DCBB33C61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9" y="1153994"/>
            <a:ext cx="5982007" cy="383559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D17C4B3-AE78-2B49-1104-20FDB3A3B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376" y="1153995"/>
            <a:ext cx="5697117" cy="455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277549-2053-4A38-8DEA-05B61B701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22" y="29986"/>
            <a:ext cx="8786742" cy="68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84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D91A9-6AC8-8A96-4DBA-3BF4B20D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95ED9-B0D3-2BB6-C8ED-A8932F68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1. </a:t>
            </a:r>
            <a:r>
              <a:rPr lang="es-CO" b="1" dirty="0" err="1"/>
              <a:t>Reflection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AE5E17-8AB4-E0AF-BDE1-B46DF5D17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278"/>
            <a:ext cx="1066899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/>
              <a:t>Ejemplos</a:t>
            </a:r>
          </a:p>
          <a:p>
            <a:pPr marL="0" indent="0" algn="just">
              <a:buNone/>
            </a:pPr>
            <a:endParaRPr lang="es-MX" dirty="0"/>
          </a:p>
          <a:p>
            <a:pPr lvl="0"/>
            <a:r>
              <a:rPr lang="es-CO" dirty="0"/>
              <a:t>Generación de código: Escribir código, ejecutarlo y utilizar los mensajes de error o los resultados de las pruebas como retroalimentación para corregir errores.</a:t>
            </a:r>
          </a:p>
          <a:p>
            <a:pPr lvl="0"/>
            <a:r>
              <a:rPr lang="es-CO" dirty="0"/>
              <a:t>Redacción y perfeccionamiento: Elaborar un borrador, reflexionar sobre su claridad y tono, y luego revisarlo.</a:t>
            </a:r>
          </a:p>
          <a:p>
            <a:pPr lvl="0"/>
            <a:r>
              <a:rPr lang="es-CO" dirty="0"/>
              <a:t>Resolución de problemas complejos: Generar un plan, evaluar su viabilidad y perfeccionarlo en función de dicha evaluación.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1595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40CF-2ED4-091D-ECE6-46AC64253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ECE40-C1F2-0D5E-A3A4-B28991509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dirty="0"/>
              <a:t>2. Tool Use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DB1575-0B6F-947A-481C-8052431DAA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2268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C4847-F972-BD81-52F7-14AD7588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4828BCF-3316-9521-00F4-DF8FA280C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339" y="855023"/>
            <a:ext cx="7334661" cy="514795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964C39E-E21A-BD0B-B834-700E6189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2. Tool Use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C14C19-94C9-1D0A-45C3-3AB99D2AF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20" y="2980705"/>
            <a:ext cx="6215743" cy="2566865"/>
          </a:xfrm>
        </p:spPr>
        <p:txBody>
          <a:bodyPr>
            <a:normAutofit/>
          </a:bodyPr>
          <a:lstStyle/>
          <a:p>
            <a:pPr algn="just"/>
            <a:r>
              <a:rPr lang="es-CO" dirty="0"/>
              <a:t>LLM tiene la capacidad de invocar funciones o API externas para interactuar con el mundo exterior, recuperar información o realizar acciones.</a:t>
            </a:r>
          </a:p>
        </p:txBody>
      </p:sp>
    </p:spTree>
    <p:extLst>
      <p:ext uri="{BB962C8B-B14F-4D97-AF65-F5344CB8AC3E}">
        <p14:creationId xmlns:p14="http://schemas.microsoft.com/office/powerpoint/2010/main" val="1139024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D3C3-9D08-7F3B-9F07-74E43647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FACF1-1044-7CE3-692D-E1EABF57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2. Tool Use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5BA41F-3351-4921-FB07-2DA9E0AFF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92740" cy="2566865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s-MX" dirty="0"/>
              <a:t>Ejemplos</a:t>
            </a:r>
          </a:p>
          <a:p>
            <a:pPr marL="0" indent="0" algn="just">
              <a:buNone/>
            </a:pPr>
            <a:endParaRPr lang="es-MX" dirty="0"/>
          </a:p>
          <a:p>
            <a:pPr lvl="0"/>
            <a:r>
              <a:rPr lang="es-CO" dirty="0"/>
              <a:t>Reservar citas mediante una API de calendario.</a:t>
            </a:r>
          </a:p>
          <a:p>
            <a:pPr lvl="0"/>
            <a:r>
              <a:rPr lang="es-CO" dirty="0"/>
              <a:t>Obtención de precios de acciones en tiempo real a través de una API financiera.</a:t>
            </a:r>
          </a:p>
          <a:p>
            <a:pPr lvl="0"/>
            <a:r>
              <a:rPr lang="es-CO" dirty="0"/>
              <a:t>Búsqueda de documentos relevantes (RAG) en una base de datos vectorial.</a:t>
            </a:r>
          </a:p>
          <a:p>
            <a:pPr lvl="0"/>
            <a:r>
              <a:rPr lang="es-CO" dirty="0"/>
              <a:t>Controlar los dispositivos domésticos inteligentes.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02809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4A858-2CDC-D69D-AFB9-3A5B46AFDE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O" b="1" dirty="0"/>
              <a:t>3. </a:t>
            </a:r>
            <a:r>
              <a:rPr lang="es-CO" b="1" dirty="0" err="1"/>
              <a:t>Planning</a:t>
            </a:r>
            <a:r>
              <a:rPr lang="es-CO" b="1" dirty="0"/>
              <a:t> </a:t>
            </a:r>
            <a:br>
              <a:rPr lang="es-CO" b="1" dirty="0"/>
            </a:br>
            <a:r>
              <a:rPr lang="es-CO" b="1" dirty="0"/>
              <a:t>(</a:t>
            </a:r>
            <a:r>
              <a:rPr lang="es-CO" b="1" dirty="0" err="1"/>
              <a:t>Orchestrator-Workers</a:t>
            </a:r>
            <a:r>
              <a:rPr lang="es-CO" b="1" dirty="0"/>
              <a:t>)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B980F6-93E4-5988-2F08-7875BF1349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3920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22776-00BF-A70C-D7BC-2C66B6CD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096E6-EC78-433E-3C41-8AEFD2FF1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3. </a:t>
            </a:r>
            <a:r>
              <a:rPr lang="es-CO" b="1" dirty="0" err="1"/>
              <a:t>Planning</a:t>
            </a:r>
            <a:r>
              <a:rPr lang="es-CO" b="1" dirty="0"/>
              <a:t> (</a:t>
            </a:r>
            <a:r>
              <a:rPr lang="es-CO" b="1" dirty="0" err="1"/>
              <a:t>Orchestrator-Workers</a:t>
            </a:r>
            <a:r>
              <a:rPr lang="es-CO" b="1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A2EE4A-005F-2151-5E0C-3DD5427BF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5109" cy="4351338"/>
          </a:xfrm>
        </p:spPr>
        <p:txBody>
          <a:bodyPr>
            <a:normAutofit fontScale="92500"/>
          </a:bodyPr>
          <a:lstStyle/>
          <a:p>
            <a:pPr algn="just"/>
            <a:r>
              <a:rPr lang="es-CO" dirty="0"/>
              <a:t>Un </a:t>
            </a:r>
            <a:r>
              <a:rPr lang="es-CO" b="1" dirty="0"/>
              <a:t>planificador central </a:t>
            </a:r>
            <a:r>
              <a:rPr lang="es-CO" dirty="0"/>
              <a:t>LLM </a:t>
            </a:r>
            <a:r>
              <a:rPr lang="es-CO" b="1" dirty="0"/>
              <a:t>descompone</a:t>
            </a:r>
            <a:r>
              <a:rPr lang="es-CO" dirty="0"/>
              <a:t> una tarea compleja en una lista dinámica de subtareas, que luego se </a:t>
            </a:r>
            <a:r>
              <a:rPr lang="es-CO" b="1" dirty="0"/>
              <a:t>delegan</a:t>
            </a:r>
            <a:r>
              <a:rPr lang="es-CO" dirty="0"/>
              <a:t> a agentes de trabajo </a:t>
            </a:r>
            <a:r>
              <a:rPr lang="es-CO" b="1" dirty="0"/>
              <a:t>especializados</a:t>
            </a:r>
            <a:r>
              <a:rPr lang="es-CO" dirty="0"/>
              <a:t> (a menudo mediante el uso de herramientas) para su ejecución.</a:t>
            </a:r>
          </a:p>
          <a:p>
            <a:pPr algn="just"/>
            <a:endParaRPr lang="es-CO" dirty="0"/>
          </a:p>
          <a:p>
            <a:pPr algn="just"/>
            <a:r>
              <a:rPr lang="es-CO" dirty="0"/>
              <a:t>Este patrón intenta resolver problemas complejos que requieren razonamiento en varios pasos mediante la creación de un plan inicial. </a:t>
            </a:r>
          </a:p>
          <a:p>
            <a:pPr algn="just"/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E0AED3-3723-7116-964F-1C5B07056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887" y="1511135"/>
            <a:ext cx="4579877" cy="514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9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2037-D585-CBAE-7F8D-836257BA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7C13C-16DF-45B3-D728-939813E73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3. </a:t>
            </a:r>
            <a:r>
              <a:rPr lang="es-CO" b="1" dirty="0" err="1"/>
              <a:t>Planning</a:t>
            </a:r>
            <a:r>
              <a:rPr lang="es-CO" b="1" dirty="0"/>
              <a:t> (</a:t>
            </a:r>
            <a:r>
              <a:rPr lang="es-CO" b="1" dirty="0" err="1"/>
              <a:t>Orchestrator-Workers</a:t>
            </a:r>
            <a:r>
              <a:rPr lang="es-CO" b="1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C19F8E-109B-DFA0-16CD-3194855A1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09613" cy="4351338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s-CO" dirty="0"/>
              <a:t>Ejemplos:</a:t>
            </a:r>
          </a:p>
          <a:p>
            <a:pPr marL="0" lvl="0" indent="0">
              <a:buNone/>
            </a:pPr>
            <a:endParaRPr lang="es-CO" dirty="0"/>
          </a:p>
          <a:p>
            <a:pPr lvl="0"/>
            <a:r>
              <a:rPr lang="es-CO" dirty="0"/>
              <a:t>Tareas complejas de desarrollo de software: Desglosar la tarea de "crear una funcionalidad" en subtareas de planificación, codificación, pruebas y documentación.</a:t>
            </a:r>
          </a:p>
          <a:p>
            <a:pPr lvl="0"/>
            <a:r>
              <a:rPr lang="es-CO" dirty="0"/>
              <a:t>Investigación y elaboración de informes: Planificación de pasos como la búsqueda bibliográfica, la extracción de datos, el análisis y la redacción del informe.</a:t>
            </a:r>
          </a:p>
          <a:p>
            <a:pPr lvl="0"/>
            <a:r>
              <a:rPr lang="es-CO" dirty="0"/>
              <a:t>Tareas multimodales: Pasos de planificación que incluyen la generación de imágenes, el análisis de texto y la integración de datos.</a:t>
            </a:r>
          </a:p>
          <a:p>
            <a:pPr algn="just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5933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6050C-561B-C122-C2EA-3378E095EB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b="1" dirty="0"/>
              <a:t>4. </a:t>
            </a:r>
            <a:r>
              <a:rPr lang="es-CO" b="1" dirty="0"/>
              <a:t>Multi-Agent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FE330C-6902-3D9A-40E3-10D59AF3B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1141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2DC28-8E2A-28F9-8B36-6374687EF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449A4-298A-AC65-3467-B70A50F9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4. Multi-Agent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E69301-D4D1-417B-9F84-654E2996C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7856A6-8D87-5402-7DA6-F726D81D8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67" y="1825625"/>
            <a:ext cx="11150209" cy="424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04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6199-037A-E3C1-BB94-6E4C3668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CAA51-AB55-5EB6-225E-3A4DB07A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4. Multi-Agent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80A72E-8A74-5AF6-F5BC-324E20BE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Varios agentes distintos, cada uno con un rol, personalidad o experiencia específicos, colaboran para lograr un objetivo común. Este patrón utiliza agentes autónomos o semiautónomos.</a:t>
            </a:r>
          </a:p>
          <a:p>
            <a:endParaRPr lang="es-CO" dirty="0"/>
          </a:p>
          <a:p>
            <a:r>
              <a:rPr lang="es-CO" dirty="0"/>
              <a:t>Interactúan y colaboran, a menudo coordinados por un agente central ("coordinador") o "gestor" (como el gestor de proyectos del diagrama) o mediante lógica de traspaso, donde un agente cede el control a otro.</a:t>
            </a:r>
          </a:p>
        </p:txBody>
      </p:sp>
    </p:spTree>
    <p:extLst>
      <p:ext uri="{BB962C8B-B14F-4D97-AF65-F5344CB8AC3E}">
        <p14:creationId xmlns:p14="http://schemas.microsoft.com/office/powerpoint/2010/main" val="1673744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7B691-038E-F84F-72B3-A6F58CDF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F579A-A961-EFF5-ABB3-39A50AB8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4. Multi-Agent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C70159-464B-593B-055B-E817D2620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347" y="1344920"/>
            <a:ext cx="5669765" cy="548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87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29F3-CA53-1F1E-53C2-3592CB05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7EF58-9D6C-D2C2-274B-2161357F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4. Multi-Agent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6EAEF4-7F40-49DD-09F2-11ADB0F46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Ejemplos</a:t>
            </a:r>
          </a:p>
          <a:p>
            <a:pPr marL="0" indent="0">
              <a:buNone/>
            </a:pPr>
            <a:endParaRPr lang="es-MX" dirty="0"/>
          </a:p>
          <a:p>
            <a:pPr lvl="0"/>
            <a:r>
              <a:rPr lang="es-CO" dirty="0"/>
              <a:t>Simular debates o sesiones de lluvia de ideas con diferentes perfiles de IA.</a:t>
            </a:r>
          </a:p>
          <a:p>
            <a:pPr lvl="0"/>
            <a:r>
              <a:rPr lang="es-CO" dirty="0"/>
              <a:t>Creación de software complejo que involucra agentes para la planificación, codificación, pruebas e implementación.</a:t>
            </a:r>
          </a:p>
          <a:p>
            <a:pPr lvl="0"/>
            <a:r>
              <a:rPr lang="es-CO" dirty="0"/>
              <a:t>Realizar experimentos virtuales o simulaciones con agentes que representan a diferentes actores.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52274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973E3-320D-AE86-AB3F-B4B3FE4493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III. </a:t>
            </a:r>
            <a:r>
              <a:rPr lang="es-CO" dirty="0"/>
              <a:t>Concepto e implementación del MCP</a:t>
            </a:r>
          </a:p>
        </p:txBody>
      </p:sp>
    </p:spTree>
    <p:extLst>
      <p:ext uri="{BB962C8B-B14F-4D97-AF65-F5344CB8AC3E}">
        <p14:creationId xmlns:p14="http://schemas.microsoft.com/office/powerpoint/2010/main" val="1417058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6FBBD-B230-3D98-E739-98CC7074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MCP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EE1EA7-E694-02FE-0EAD-7CC8C2ECC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30" y="1836684"/>
            <a:ext cx="4235522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CO" b="1" dirty="0"/>
              <a:t>MCP</a:t>
            </a:r>
            <a:r>
              <a:rPr lang="es-CO" dirty="0"/>
              <a:t> son las siglas de </a:t>
            </a:r>
            <a:r>
              <a:rPr lang="es-CO" b="1" dirty="0"/>
              <a:t>Model </a:t>
            </a:r>
            <a:r>
              <a:rPr lang="es-CO" b="1" dirty="0" err="1"/>
              <a:t>Context</a:t>
            </a:r>
            <a:r>
              <a:rPr lang="es-CO" b="1" dirty="0"/>
              <a:t> </a:t>
            </a:r>
            <a:r>
              <a:rPr lang="es-CO" b="1" dirty="0" err="1"/>
              <a:t>Protocol</a:t>
            </a:r>
            <a:r>
              <a:rPr lang="es-CO" dirty="0"/>
              <a:t> (Protocolo de Contexto de Modelo), un estándar abierto creado por </a:t>
            </a:r>
            <a:r>
              <a:rPr lang="es-CO" dirty="0" err="1"/>
              <a:t>Anthropic</a:t>
            </a:r>
            <a:r>
              <a:rPr lang="es-CO" dirty="0"/>
              <a:t> en noviembre de 2024 para conectar de forma segura las inteligencias artificiales con datos y herramientas externas</a:t>
            </a:r>
          </a:p>
        </p:txBody>
      </p:sp>
      <p:pic>
        <p:nvPicPr>
          <p:cNvPr id="4" name="Imagen 3" descr="MCP (Model Context Protocol): el “USB” de la Inteligencia Artificial  moderna - Unimedia Technology">
            <a:extLst>
              <a:ext uri="{FF2B5EF4-FFF2-40B4-BE49-F238E27FC236}">
                <a16:creationId xmlns:a16="http://schemas.microsoft.com/office/drawing/2014/main" id="{FA4BC245-9B3D-3C3F-926E-898A11D01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933" y="1345522"/>
            <a:ext cx="6863137" cy="514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329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377176-EDAE-F45F-817E-7858C8E6C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911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DAF707A-DE34-D361-816E-EC16C151C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64"/>
            <a:ext cx="12192000" cy="676207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B5910DD-9C73-43C0-5FE0-E3D93E404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64"/>
            <a:ext cx="10515600" cy="1325563"/>
          </a:xfrm>
        </p:spPr>
        <p:txBody>
          <a:bodyPr/>
          <a:lstStyle/>
          <a:p>
            <a:r>
              <a:rPr lang="es-MX" b="1" dirty="0"/>
              <a:t>Arquitectura</a:t>
            </a:r>
            <a:endParaRPr lang="es-CO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F6DBB3-44DC-3DC4-D5DE-7FC4296A1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089" y="4985089"/>
            <a:ext cx="1872911" cy="187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22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429E38-8F1C-9369-9926-B6A46BBB7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" t="6137" r="1614" b="3888"/>
          <a:stretch>
            <a:fillRect/>
          </a:stretch>
        </p:blipFill>
        <p:spPr>
          <a:xfrm>
            <a:off x="14968" y="847618"/>
            <a:ext cx="12177032" cy="6010382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973453D-854E-3743-16A0-F9C2856F9903}"/>
              </a:ext>
            </a:extLst>
          </p:cNvPr>
          <p:cNvSpPr txBox="1">
            <a:spLocks/>
          </p:cNvSpPr>
          <p:nvPr/>
        </p:nvSpPr>
        <p:spPr>
          <a:xfrm>
            <a:off x="211477" y="184836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/>
              <a:t>Arquitectura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887184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042C-0671-B0DF-E296-00579EE38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30F97-3C13-FF9F-2DA6-7B2DBF62BE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IV. Revisión de la demo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7BD7663-A580-6C0C-C095-D08CFB7B3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164" y="3737813"/>
            <a:ext cx="2947506" cy="294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088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6069C-DC05-8893-5570-9D289F29D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6EBB6-3AFF-ECED-7044-11E63EDE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Gracias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CC9158-2552-05FA-EFC9-0AC641905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54" y="2196689"/>
            <a:ext cx="3019425" cy="30194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8D934BF-E100-0F25-E50B-F8538649D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409" y="2196689"/>
            <a:ext cx="3019425" cy="30194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C76FF14-8A63-708B-EC41-3648ED3ADC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341" y="2196689"/>
            <a:ext cx="2947506" cy="294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11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4C0C-CBD6-D662-A39D-02FE0F73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11AB5D-FD63-748E-129A-37EFB2DBB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" t="6137" r="1614" b="3888"/>
          <a:stretch>
            <a:fillRect/>
          </a:stretch>
        </p:blipFill>
        <p:spPr>
          <a:xfrm>
            <a:off x="14968" y="847618"/>
            <a:ext cx="12177032" cy="6010382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B017B25-C6A8-7FCE-EABF-76261C32340B}"/>
              </a:ext>
            </a:extLst>
          </p:cNvPr>
          <p:cNvSpPr txBox="1">
            <a:spLocks/>
          </p:cNvSpPr>
          <p:nvPr/>
        </p:nvSpPr>
        <p:spPr>
          <a:xfrm>
            <a:off x="211477" y="184836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/>
              <a:t>Arquitectura</a:t>
            </a:r>
            <a:endParaRPr lang="es-CO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21F1AB1-5129-59E3-98F1-9E404BA56B5C}"/>
              </a:ext>
            </a:extLst>
          </p:cNvPr>
          <p:cNvSpPr/>
          <p:nvPr/>
        </p:nvSpPr>
        <p:spPr>
          <a:xfrm>
            <a:off x="133565" y="4798031"/>
            <a:ext cx="4068566" cy="1875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6113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CD83-9D76-A15F-E516-23AC051C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97DA5-D11F-350F-323D-6B27FF79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b="1" dirty="0"/>
              <a:t>Lo que se podría hacer…</a:t>
            </a:r>
            <a:endParaRPr lang="es-CO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C0A1C5E-93DA-CB15-3D5D-43679AB7B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5" t="1109" r="69086" b="28180"/>
          <a:stretch>
            <a:fillRect/>
          </a:stretch>
        </p:blipFill>
        <p:spPr>
          <a:xfrm>
            <a:off x="7315200" y="0"/>
            <a:ext cx="2732926" cy="658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70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A83519-3B6B-6210-B4D5-699841EF2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93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48910-8908-33E9-DE13-28ED9591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895B2-12E6-CCE2-7A8B-EA0C84756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/>
              <a:t>Principio D (Solid)</a:t>
            </a:r>
            <a:br>
              <a:rPr lang="es-MX" b="1" dirty="0"/>
            </a:br>
            <a:r>
              <a:rPr lang="es-MX" b="1" dirty="0"/>
              <a:t>Inversión de Dependencias </a:t>
            </a:r>
            <a:br>
              <a:rPr lang="es-MX" b="1" dirty="0"/>
            </a:br>
            <a:r>
              <a:rPr lang="es-MX" b="1" dirty="0"/>
              <a:t>(DIP)</a:t>
            </a:r>
            <a:endParaRPr lang="es-CO" b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9A42685-236E-B2C6-CA39-5EB824287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530" y="2167847"/>
            <a:ext cx="2690846" cy="274454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ED928C0-799D-9F1D-44A8-F15D851B109C}"/>
              </a:ext>
            </a:extLst>
          </p:cNvPr>
          <p:cNvSpPr txBox="1"/>
          <p:nvPr/>
        </p:nvSpPr>
        <p:spPr>
          <a:xfrm>
            <a:off x="9673237" y="4912391"/>
            <a:ext cx="208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Guia Principios Solid</a:t>
            </a:r>
            <a:endParaRPr lang="es-CO" dirty="0"/>
          </a:p>
        </p:txBody>
      </p:sp>
      <p:pic>
        <p:nvPicPr>
          <p:cNvPr id="2050" name="Picture 2" descr="Diagrama de Inversión de Dependencias">
            <a:extLst>
              <a:ext uri="{FF2B5EF4-FFF2-40B4-BE49-F238E27FC236}">
                <a16:creationId xmlns:a16="http://schemas.microsoft.com/office/drawing/2014/main" id="{C5B6AE2D-82B1-4E70-5946-FFD25EFB0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23" y="1819507"/>
            <a:ext cx="8505321" cy="496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6616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607AB-7A18-9D9B-A65B-FFCF34858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dirty="0"/>
              <a:t>Principio D (Solid)</a:t>
            </a:r>
            <a:br>
              <a:rPr lang="es-MX" b="1" dirty="0"/>
            </a:br>
            <a:r>
              <a:rPr lang="es-MX" b="1" dirty="0"/>
              <a:t>Inversión de Dependencias </a:t>
            </a:r>
            <a:br>
              <a:rPr lang="es-MX" b="1" dirty="0"/>
            </a:br>
            <a:r>
              <a:rPr lang="es-MX" b="1" dirty="0"/>
              <a:t>(DIP)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A906B5-41BC-5F71-3FCC-EF49093CA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72"/>
          <a:stretch>
            <a:fillRect/>
          </a:stretch>
        </p:blipFill>
        <p:spPr>
          <a:xfrm>
            <a:off x="7171363" y="0"/>
            <a:ext cx="4520174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967AB6-E6F7-FA35-4CE3-4FA23749B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5" t="1109" r="69086" b="28180"/>
          <a:stretch>
            <a:fillRect/>
          </a:stretch>
        </p:blipFill>
        <p:spPr>
          <a:xfrm>
            <a:off x="2558265" y="1479479"/>
            <a:ext cx="2013735" cy="4849402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36944C7E-9339-E857-59F9-668C9F172DB4}"/>
              </a:ext>
            </a:extLst>
          </p:cNvPr>
          <p:cNvSpPr/>
          <p:nvPr/>
        </p:nvSpPr>
        <p:spPr>
          <a:xfrm>
            <a:off x="5239820" y="3256908"/>
            <a:ext cx="1931543" cy="1212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140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5ED7A-E0E1-10EA-849F-05D599A2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32FB0C-1B48-D7B8-25C6-919F6E304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" t="6137" r="1614" b="3888"/>
          <a:stretch>
            <a:fillRect/>
          </a:stretch>
        </p:blipFill>
        <p:spPr>
          <a:xfrm>
            <a:off x="14968" y="847618"/>
            <a:ext cx="12177032" cy="6010382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D9DDA32-55B6-E671-A3FC-7AF2167FEAA5}"/>
              </a:ext>
            </a:extLst>
          </p:cNvPr>
          <p:cNvSpPr txBox="1">
            <a:spLocks/>
          </p:cNvSpPr>
          <p:nvPr/>
        </p:nvSpPr>
        <p:spPr>
          <a:xfrm>
            <a:off x="211477" y="184836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/>
              <a:t>Arquitectura</a:t>
            </a:r>
            <a:endParaRPr lang="es-CO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9BEEB10-6557-9A15-30F9-B2BFD4663550}"/>
              </a:ext>
            </a:extLst>
          </p:cNvPr>
          <p:cNvSpPr/>
          <p:nvPr/>
        </p:nvSpPr>
        <p:spPr>
          <a:xfrm>
            <a:off x="133565" y="4798031"/>
            <a:ext cx="4068566" cy="1875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6421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88D8B-6C9C-FD86-CCD6-FF46C848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441A8F6-E5A0-A3FF-60C0-1516DCF62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" t="6137" r="1614" b="3888"/>
          <a:stretch>
            <a:fillRect/>
          </a:stretch>
        </p:blipFill>
        <p:spPr>
          <a:xfrm>
            <a:off x="14968" y="847618"/>
            <a:ext cx="12177032" cy="6010382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A046A31-CD1A-696C-7ABC-FDDC5C88A1D5}"/>
              </a:ext>
            </a:extLst>
          </p:cNvPr>
          <p:cNvSpPr txBox="1">
            <a:spLocks/>
          </p:cNvSpPr>
          <p:nvPr/>
        </p:nvSpPr>
        <p:spPr>
          <a:xfrm>
            <a:off x="211477" y="184836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/>
              <a:t>Arquitectura</a:t>
            </a:r>
            <a:endParaRPr lang="es-CO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32B3DFA-04FD-D789-5888-59CA396456B3}"/>
              </a:ext>
            </a:extLst>
          </p:cNvPr>
          <p:cNvSpPr/>
          <p:nvPr/>
        </p:nvSpPr>
        <p:spPr>
          <a:xfrm>
            <a:off x="4304879" y="4798031"/>
            <a:ext cx="4068566" cy="1875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88573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86DBAC1-9E3F-21D0-CE53-021E5A933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9034FA-3E57-9F31-0068-4659506AA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7139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8869-8CFF-DF8C-1188-D6EC0513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CF2BD2-174C-9454-8F45-096846B4F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1" t="6137" r="1614" b="3888"/>
          <a:stretch>
            <a:fillRect/>
          </a:stretch>
        </p:blipFill>
        <p:spPr>
          <a:xfrm>
            <a:off x="14968" y="847618"/>
            <a:ext cx="12177032" cy="6010382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46B4C330-F23E-6C5C-D0C7-D858372970E0}"/>
              </a:ext>
            </a:extLst>
          </p:cNvPr>
          <p:cNvSpPr txBox="1">
            <a:spLocks/>
          </p:cNvSpPr>
          <p:nvPr/>
        </p:nvSpPr>
        <p:spPr>
          <a:xfrm>
            <a:off x="211477" y="184836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1"/>
              <a:t>Arquitectura</a:t>
            </a:r>
            <a:endParaRPr lang="es-CO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83B29C2-442E-744D-95B6-3C2EBFB41043}"/>
              </a:ext>
            </a:extLst>
          </p:cNvPr>
          <p:cNvSpPr/>
          <p:nvPr/>
        </p:nvSpPr>
        <p:spPr>
          <a:xfrm>
            <a:off x="4304879" y="4798031"/>
            <a:ext cx="4068566" cy="18751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29357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34CBF-423D-8B11-DCF3-5219C8D3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Gracias</a:t>
            </a: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6B2CA8-9632-FA92-0EBF-A0930D17A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54" y="2196689"/>
            <a:ext cx="3019425" cy="30194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8AC559B-3C66-E42B-1562-3B463C108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409" y="2196689"/>
            <a:ext cx="3019425" cy="30194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2CC5B2A-2DB9-CD6D-936E-5D3A46AE30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341" y="2196689"/>
            <a:ext cx="2947506" cy="294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558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PresentacionFinal</Template>
  <TotalTime>518</TotalTime>
  <Words>736</Words>
  <Application>Microsoft Office PowerPoint</Application>
  <PresentationFormat>Panorámica</PresentationFormat>
  <Paragraphs>88</Paragraphs>
  <Slides>42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Tema de Office</vt:lpstr>
      <vt:lpstr>El desarrollo de un MCP desde una perspectiva arquitectónica </vt:lpstr>
      <vt:lpstr>Agenda</vt:lpstr>
      <vt:lpstr>I. Introducción “Agentic AI” </vt:lpstr>
      <vt:lpstr>Presentación de PowerPoint</vt:lpstr>
      <vt:lpstr>¿Qué es Agentic AI?</vt:lpstr>
      <vt:lpstr>Presentación de PowerPoint</vt:lpstr>
      <vt:lpstr>II. Patrones de IA Agéntica </vt:lpstr>
      <vt:lpstr>Patrones</vt:lpstr>
      <vt:lpstr>1. Reflection</vt:lpstr>
      <vt:lpstr>1. Reflection</vt:lpstr>
      <vt:lpstr>Presentación de PowerPoint</vt:lpstr>
      <vt:lpstr>Presentación de PowerPoint</vt:lpstr>
      <vt:lpstr>Presentación de PowerPoint</vt:lpstr>
      <vt:lpstr>1. Reflection</vt:lpstr>
      <vt:lpstr>2. Tool Use</vt:lpstr>
      <vt:lpstr>2. Tool Use</vt:lpstr>
      <vt:lpstr>2. Tool Use</vt:lpstr>
      <vt:lpstr>3. Planning  (Orchestrator-Workers)</vt:lpstr>
      <vt:lpstr>3. Planning (Orchestrator-Workers)</vt:lpstr>
      <vt:lpstr>3. Planning (Orchestrator-Workers)</vt:lpstr>
      <vt:lpstr>4. Multi-Agent</vt:lpstr>
      <vt:lpstr>4. Multi-Agent</vt:lpstr>
      <vt:lpstr>4. Multi-Agent</vt:lpstr>
      <vt:lpstr>4. Multi-Agent</vt:lpstr>
      <vt:lpstr>4. Multi-Agent</vt:lpstr>
      <vt:lpstr>III. Concepto e implementación del MCP</vt:lpstr>
      <vt:lpstr>MCP</vt:lpstr>
      <vt:lpstr>Presentación de PowerPoint</vt:lpstr>
      <vt:lpstr>Arquitectura</vt:lpstr>
      <vt:lpstr>Presentación de PowerPoint</vt:lpstr>
      <vt:lpstr>IV. Revisión de la demo</vt:lpstr>
      <vt:lpstr>Gracias</vt:lpstr>
      <vt:lpstr>Presentación de PowerPoint</vt:lpstr>
      <vt:lpstr>Lo que se podría hacer…</vt:lpstr>
      <vt:lpstr>Presentación de PowerPoint</vt:lpstr>
      <vt:lpstr>Principio D (Solid) Inversión de Dependencias  (DIP)</vt:lpstr>
      <vt:lpstr>Principio D (Solid) Inversión de Dependencias  (DIP)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Buitrago Carmona</dc:creator>
  <cp:lastModifiedBy>Felipe Buitrago Carmona</cp:lastModifiedBy>
  <cp:revision>15</cp:revision>
  <cp:lastPrinted>2026-07-28T20:18:43Z</cp:lastPrinted>
  <dcterms:created xsi:type="dcterms:W3CDTF">2026-04-30T13:34:08Z</dcterms:created>
  <dcterms:modified xsi:type="dcterms:W3CDTF">2026-07-28T20:20:14Z</dcterms:modified>
</cp:coreProperties>
</file>